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3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C2333"/>
                </a:solidFill>
                <a:latin typeface="Cambria"/>
              </a:rPr>
              <a:t>EV/EBITDA by Company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EV/EBITDA (x)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Shake Shack</c:v>
                  </c:pt>
                  <c:pt idx="1">
                    <c:v>CMG</c:v>
                  </c:pt>
                  <c:pt idx="2">
                    <c:v>Dutch Bros</c:v>
                  </c:pt>
                  <c:pt idx="3">
                    <c:v>Wingstop</c:v>
                  </c:pt>
                  <c:pt idx="4">
                    <c:v>CAVA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9.7</c:v>
                </c:pt>
                <c:pt idx="1">
                  <c:v>19.2</c:v>
                </c:pt>
                <c:pt idx="2">
                  <c:v>32.5</c:v>
                </c:pt>
                <c:pt idx="3">
                  <c:v>37.3</c:v>
                </c:pt>
                <c:pt idx="4">
                  <c:v>53.3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2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FFFFFF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52-Week Range</c:v>
                  </c:pt>
                  <c:pt idx="1">
                    <c:v>Historical Trading Range</c:v>
                  </c:pt>
                  <c:pt idx="2">
                    <c:v>DCF Sensitivity</c:v>
                  </c:pt>
                  <c:pt idx="3">
                    <c:v>Comparable Companies</c:v>
                  </c:pt>
                  <c:pt idx="4">
                    <c:v>Analyst Price Targets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28.04</c:v>
                </c:pt>
                <c:pt idx="1">
                  <c:v>30.9</c:v>
                </c:pt>
                <c:pt idx="2">
                  <c:v>11.53</c:v>
                </c:pt>
                <c:pt idx="3">
                  <c:v>36.59</c:v>
                </c:pt>
                <c:pt idx="4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C1440E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52-Week Range</c:v>
                  </c:pt>
                  <c:pt idx="1">
                    <c:v>Historical Trading Range</c:v>
                  </c:pt>
                  <c:pt idx="2">
                    <c:v>DCF Sensitivity</c:v>
                  </c:pt>
                  <c:pt idx="3">
                    <c:v>Comparable Companies</c:v>
                  </c:pt>
                  <c:pt idx="4">
                    <c:v>Analyst Price Targets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15.950000000000003</c:v>
                </c:pt>
                <c:pt idx="1">
                  <c:v>6.859999999999999</c:v>
                </c:pt>
                <c:pt idx="2">
                  <c:v>9.430000000000001</c:v>
                </c:pt>
                <c:pt idx="3">
                  <c:v>28.179999999999993</c:v>
                </c:pt>
                <c:pt idx="4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6350" cap="flat">
              <a:solidFill>
                <a:srgbClr val="E2E2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7432"/>
          </a:xfrm>
          <a:prstGeom prst="rect">
            <a:avLst/>
          </a:prstGeom>
          <a:solidFill>
            <a:srgbClr val="2E3A5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CHIPOTLE MEXICAN GRILL, INC.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Companies (Trading Comps)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NYSE: CMG   |   Sector: Consumer Discretionary — Restaurants (Fast-Casual)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Banking Valuation Group  |  August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 — For Discussion Purposes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Predominantly company-operated fast-casual leader with a long unit-growth runway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$34.33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1671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55448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600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$43.6B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88920" y="21671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600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$12.1B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029200" y="21671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TTM Revenue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69480" y="155448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600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49.2%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269480" y="21671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09760" y="155448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1600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21.5%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509760" y="21671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136392"/>
            <a:ext cx="82296" cy="822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0632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~3,983 US restaurants, ~104 international, ~14 licensed (Middle East) — almost entirely company-operated, unlike franchise-royalty peers (McDonald's, Yum!, Domino's).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849624"/>
            <a:ext cx="82296" cy="822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7764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In-restaurant sales plus digital/delivery, which reached 38.3% of Q2 2026 revenue.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562856"/>
            <a:ext cx="82296" cy="822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489704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Drivers: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350-370 new units planned FY26 (80% with Chipotlanes); HEAP kitchen-automation rollout across 2,000 locations; early-stage international licensing.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5276088"/>
            <a:ext cx="82296" cy="822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202936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 US-concentrated; nascent expansion in Canada, UK, France, Germany, and a new Middle East license (first Saudi Arabia unit, Aug 2026).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Comparable Companies Analysis  |  Part 1: Company Research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Position &amp; Investment Thesis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Fast-casual category leader navigating a transient food-safety headwind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Fast-casual direct: CAVA, Sweetgreen, Shake Shack, Dutch Bros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Large-cap QSR: McDonald's, Yum! Brands, Domino's, Restaurant Brands Int'l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Fast-casual competes on QSR-level speed with casual-dining quality/customization, at a mid-tier price point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Market Risks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food-safety incidents (2026 salmonella/jalapeño outbreak, cyclospora headwind)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Restaurant-level margin pressure: -220bps YoY in Q2 2026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discretionary spending sensitivity; active securities litigation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1C2333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Chipotle is a scaled, high-ROIC growth compounder with a long runway of unit growth, expanding digital mix, and margin-recovery potential once current cost and reinvestment headwinds pass.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 has pulled back meaningfully off its highs — from the low-$40s/50s range to the low-$30s — on food-safety-driven sentiment and decelerating comps.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valuation question this analysis is built to answer: is the current ~$34 price reflecting temporary noise, or a genuine reset in the growth and margin trajectory?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Comparable Companies Analysis  |  Part 1: Company Research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Selection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comp set: Core tier drives valuation; Reference tier provides context only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1200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TIER — Fast-Casual, Company-Operated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 (CAVA)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350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structural analog: bowl format, company-operated, digital-forward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6791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Sweetgreen (SG)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fast-casual; weak same-store sales — statistical outlier candidate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2552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Shack (SHAK)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5021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fast-casual, company-operated; rich P/E, activist involvement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8313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Bros (BROS)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0782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Drive-thru-led growth format directly analogous to Chipotlane strategy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4074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Wingstop (WING)*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6542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*95-99% franchised — excluded from primary EV/EBITDA valuation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463040"/>
            <a:ext cx="5349240" cy="4572000"/>
          </a:xfrm>
          <a:prstGeom prst="roundRect">
            <a:avLst>
              <a:gd name="adj" fmla="val 1200"/>
            </a:avLst>
          </a:prstGeom>
          <a:solidFill>
            <a:srgbClr val="1C23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TIER — Large-Cap Franchised QSR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1031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(MCD)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23500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 franchise model — margin gap vs. CMG is structural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6791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Yum! Brands (YUM)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2926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KFC/Taco Bell/Pizza Hut — divesting Pizza Hut, financials in transition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2552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Domino's (DPZ)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35021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Decade-low valuation on flat US comps, GLP-1 demand concerns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83133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Brands Int'l (QSR)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40782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company/franchise — closest large-cap comparable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40740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 (SBUX)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465429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Mid-turnaround; trades at growth-name multiples despite mature scale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Comparable Companies Analysis  |  Part 2: Peer Selection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Comparison — Core Peer Tier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TTM figures, $ in millions except per-share and % (Aug 2026)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83464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  <a:gridCol w="1645920"/>
                <a:gridCol w="1645920"/>
                <a:gridCol w="1645920"/>
              </a:tblGrid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Mkt Cap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EBITDA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</a:rPr>
                        <a:t>Chipotle (CMG)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$43,600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$12,140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$2,500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49.2%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21.5%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CAVA Group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$7,684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$1,290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$146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8.0%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6.2%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Sweetgreen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$896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$685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n.m.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-8.0%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-15.0%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Shake Shack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$3,913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$1,550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$472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7.9%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3.3%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Dutch Bros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$9,986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$1,880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$318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14.6%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8.4%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Wingstop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$6,991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$697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$216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45.0%*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</a:rPr>
                        <a:t>20.0%*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read: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CMG's ROE (49.2%) and ROIC (21.5%) are dramatically higher than every Core peer — the central data point supporting a premium valuation, independent of brand narrative. *Wingstop figures are estimates pending CapIQ verification.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Comparable Companies Analysis  |  Part 3: Financial Data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Multiples &amp; Statistical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EV/EBITDA is the primary multiple; Sweetgreen excluded as not meaningful (n.m.)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1264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508760"/>
            <a:ext cx="4709160" cy="3749040"/>
          </a:xfrm>
          <a:prstGeom prst="roundRect">
            <a:avLst>
              <a:gd name="adj" fmla="val 1463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Summary (Core, ex-CMG, ex-SG)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223760" y="2194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66960" y="21945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33.2x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223760" y="25603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966960" y="2560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34.9x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223760" y="2926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25th Percentile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966960" y="2926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26.8x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23760" y="32918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75th Percentile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966960" y="3291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41.3x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23760" y="3657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66960" y="3657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9.7x / 53.3x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132320" y="411480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 (53.3x) is a growth-stage outlier — carried as an upside scenario, not the base case. Shake Shack's multiple shows vendor variance (GAAP vs. Adjusted EBITDA) and warrants direct confirmation in live diligence.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Comparable Companies Analysis  |  Parts 4-5: Multiples &amp; Statistics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Trading Comps — Implied 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peer multiples to CMG's TTM EBITDA / Revenue ($2,500M / $12,140M)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128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Ex-CAVA Median EV/EBITDA (21.1x)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$37.75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+10.0% vs. current $34.33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C2333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828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EV/Revenue Cross-Check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2128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EV/Revenue (4.2x)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2880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$36.59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26280" y="3611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+6.6% vs. current $34.33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828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75320" y="22128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Full-Set Median EV/EBITDA (34.9x)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5320" y="2880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$64.77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275320" y="3611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+88.7% vs. current $34.33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call: Scenario A and the EV/Revenue cross-check cluster together (~$37-$38) and form the defensible base case. Scenario B is CAVA-outlier-driven and is treated as an upside case, not a central estimate — see Part 5/6 memo for full reasoning.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Comparable Companies Analysis  |  Part 6: Valuation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Cross-Check &amp; Valuation Reconciliation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5-year unlevered FCF, 9% WACC / 3% terminal growth base case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486400" cy="301752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Implied Price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</a:rPr>
                        <a:t>Current Market Price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2333"/>
                          </a:solidFill>
                        </a:rPr>
                        <a:t>$34.33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</a:rPr>
                        <a:t>DCF (base case, 9% WACC / 3% g)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2333"/>
                          </a:solidFill>
                        </a:rPr>
                        <a:t>$15.07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</a:rPr>
                        <a:t>DCF (bull case, 8% WACC / 3.5% g)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2333"/>
                          </a:solidFill>
                        </a:rPr>
                        <a:t>$20.96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</a:rPr>
                        <a:t>Comps — EV/Revenue cross-check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2333"/>
                          </a:solidFill>
                        </a:rPr>
                        <a:t>$36.59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</a:rPr>
                        <a:t>Comps — Scenario A (ex-CAVA median)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2333"/>
                          </a:solidFill>
                        </a:rPr>
                        <a:t>$37.75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</a:rPr>
                        <a:t>Comps — Scenario B (full-set median)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C2333"/>
                          </a:solidFill>
                        </a:rPr>
                        <a:t>$64.77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554480"/>
            <a:ext cx="5257800" cy="4480560"/>
          </a:xfrm>
          <a:prstGeom prst="roundRect">
            <a:avLst>
              <a:gd name="adj" fmla="val 1224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0" y="17373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Methods Diverge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0" y="214884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DCF is structurally conservative: an 8%-of-revenue capex load held flat penalizes near-term FCF for growth the market rewards today.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comps range reflects what the market pays for CMG's superior ROE/ROIC (Part 3) relative to Core peers.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Current price sitting below the comps range is consistent with the food-safety-driven sentiment discount from Part 1 — not yet a full re-rating.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DCF-to-comps gap is itself a risk signal: this valuation is sensitive to whether the growth story continues largely uninterrupted.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Comparable Companies Analysis  |  Part 6: Valuation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Football Field 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target range: $37 - $45 per share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price: $34.33  |  Avg. analyst target: $43.80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Comparable Companies Analysis  |  Part 8: Football Field Valuation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Recommendation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E714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Range: $37 - $45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4630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1440E"/>
                </a:solidFill>
              </a:rPr>
              <a:t>8% - 30% </a:t>
            </a:r>
            <a:pPr indent="0" marL="0">
              <a:buNone/>
            </a:pPr>
            <a:r>
              <a:rPr lang="en-US" sz="1600" dirty="0">
                <a:solidFill>
                  <a:srgbClr val="CBD3E8"/>
                </a:solidFill>
              </a:rPr>
              <a:t>implied upside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0" y="22402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current price of $34.33, blending DCF bull case, Scenario A comps, and EV/Revenue cross-check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Summary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8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trades at a premium EV/EBITDA multiple (19.2x) above the low end of its Core fast-casual peer set but well below the peer median (34.9x) once high-growth outlier CAVA is included. Superior ROE (49.2%) and ROIC (21.5%) relative to every Core peer support a premium valuation. The current price reflects a discount tied to transient food-safety headlines and decelerating comps rather than a structural deterioration in unit economics — consistent with Buy-side analyst consensus ($43.80 average target, 25 Buy / 0 Sell).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Comparable Companies Analysis  |  Investment Recommendation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invalidate the thesis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1848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Food-Safety Recurrence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 or escalation of 2026's salmonella/cyclospora incidents (echoing 2015-16's E. coli crisis) is the single largest name-specific risk and the swing factor in the DCF-vs-comps gap.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1848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Compression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194767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CMG's persistent premium multiple is vulnerable if unit growth or digital-mix expansion decelerates further — the market can re-rate the stock down toward peer levels quickly.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272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Pressure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45643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Restaurant-level margin fell 220bps YoY in Q2 2026 on reinvestment; beef/protein cost inflation and CA-heavy labor costs are ongoing drags.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01752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1272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Discretionary Sensitivity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345643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Wallet-stretched consumers may shift toward lower-cost grocery as the price gap with food-away-from-home widens.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3600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Litigation Overhang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496519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securities class-action investigations tied to the outbreak-driven stock decline create headline and cost risk.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452628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12700">
            <a:solidFill>
              <a:srgbClr val="E2E2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63600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Assumption Risk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0" y="496519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DCF cross-check is highly sensitive to the flat 8%-of-revenue capex assumption — a refinement here could materially narrow or widen the reconciliation gap in Part 6.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Comparable Companies Analysis  |  Key Risks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Methodology &amp; Sourcing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provenance, exclusions, and modeling assumptions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Sourcing: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017520" y="15087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from public filings, earnings releases, and financial data aggregators as of August 2026. In live deal work, all comp data would be pulled from a single terminal (Capital IQ/FactSet) on one snapshot date for accounting consistency.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26771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Tiering: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17520" y="226771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tier (CAVA, Sweetgreen, Shake Shack, Dutch Bros, Wingstop) drives the primary EV/EBITDA valuation; Reference tier (MCD, YUM, DPZ, QSR, SBUX) is shown for context only given its franchise-royalty economics.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026664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Exclusions: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17520" y="302666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Sweetgreen excluded from EV/EBITDA statistics (near-zero/negative EBITDA, not meaningful). CAVA carried as an upside scenario rather than base case due to its outlier growth-stage multiple.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78561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Assumptions: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17520" y="378561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WACC, 3% terminal growth (base case); 26% tax rate; 8% capex / 5% D&amp;A as % of revenue; revenue growth stepping down 9% to 5% over 5 years; EBITDA margin ramping 21.0% to 22.5%.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5445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Accounting Note: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17520" y="4544568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'Debt' figures for restaurant comps are dominated by ASC 842 capitalized operating lease liabilities, not funded debt — flagged as a key comparability consideration.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303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17520" y="53035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formula-linked workbook (Raw Data, Multiples, Trading Comps, Sensitivity, Football Field, Dashboard) available as a companion Excel deliverable.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 Comparable Companies Analysis  |  Appendix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2026-08-22T14:15:07Z</dcterms:created>
  <dcterms:modified xsi:type="dcterms:W3CDTF">2026-08-22T14:15:07Z</dcterms:modified>
</cp:coreProperties>
</file>